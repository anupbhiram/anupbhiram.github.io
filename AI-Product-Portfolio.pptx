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1295C"/>
                </a:solidFill>
                <a:latin typeface="Arial"/>
              </a:rPr>
              <a:t>CF similarity across 870 catalog title-pairs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 pairs</c:v>
                </c:pt>
              </c:strCache>
            </c:strRef>
          </c:tx>
          <c:spPr>
            <a:solidFill>
              <a:srgbClr val="7C87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87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1295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Zero similarity</c:v>
                  </c:pt>
                  <c:pt idx="1">
                    <c:v>Low (0–0.15)</c:v>
                  </c:pt>
                  <c:pt idx="2">
                    <c:v>Mid (0.15–0.3)</c:v>
                  </c:pt>
                  <c:pt idx="3">
                    <c:v>High (0.3+)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410</c:v>
                </c:pt>
                <c:pt idx="2">
                  <c:v>320</c:v>
                </c:pt>
                <c:pt idx="3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9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ybrid-search-spark.lovable.app/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hyperlink" Target="https://recommendationv1.lovable.app/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aste-pulse-engine.lovable.app/" TargetMode="External"/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hyperlink" Target="https://hybrid-search-spark.lovable.app/" TargetMode="External"/><Relationship Id="rId6" Type="http://schemas.openxmlformats.org/officeDocument/2006/relationships/hyperlink" Target="https://recommendationv1.lovable.app/" TargetMode="External"/><Relationship Id="rId7" Type="http://schemas.openxmlformats.org/officeDocument/2006/relationships/hyperlink" Target="https://taste-pulse-engine.lovable.app/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365760"/>
            <a:ext cx="3108960" cy="3108960"/>
          </a:xfrm>
          <a:prstGeom prst="ellipse">
            <a:avLst/>
          </a:prstGeom>
          <a:solidFill>
            <a:srgbClr val="5FD3C4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spc="3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PORTFOLIO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77240" y="1298448"/>
            <a:ext cx="9875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AI for Search &amp; Recommendation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working MVPs — from intent-aware search to personalized, explainable recommendation systems.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251960"/>
            <a:ext cx="3246120" cy="868680"/>
          </a:xfrm>
          <a:prstGeom prst="roundRect">
            <a:avLst>
              <a:gd name="adj" fmla="val 9474"/>
            </a:avLst>
          </a:prstGeom>
          <a:solidFill>
            <a:srgbClr val="065A82">
              <a:alpha val="65000"/>
            </a:srgbClr>
          </a:solidFill>
          <a:ln w="9525">
            <a:solidFill>
              <a:srgbClr val="5FD3C4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449884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42519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297680" y="4251960"/>
            <a:ext cx="3246120" cy="868680"/>
          </a:xfrm>
          <a:prstGeom prst="roundRect">
            <a:avLst>
              <a:gd name="adj" fmla="val 9474"/>
            </a:avLst>
          </a:prstGeom>
          <a:solidFill>
            <a:srgbClr val="065A82">
              <a:alpha val="65000"/>
            </a:srgbClr>
          </a:solidFill>
          <a:ln w="9525">
            <a:solidFill>
              <a:srgbClr val="5FD3C4">
                <a:alpha val="45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449884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74920" y="42519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v1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7772400" y="4251960"/>
            <a:ext cx="3246120" cy="868680"/>
          </a:xfrm>
          <a:prstGeom prst="roundRect">
            <a:avLst>
              <a:gd name="adj" fmla="val 9474"/>
            </a:avLst>
          </a:prstGeom>
          <a:solidFill>
            <a:srgbClr val="065A82">
              <a:alpha val="65000"/>
            </a:srgbClr>
          </a:solidFill>
          <a:ln w="9525">
            <a:solidFill>
              <a:srgbClr val="5FD3C4">
                <a:alpha val="45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2" y="4498848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49640" y="42519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v2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822960" y="6217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Anup  ·  Product Manager  ·  AI / B2B SaaS / Platform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THROUGHLINE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discipline, two different surfaces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MVP pairs a deterministic, explainable technique with a genuine AI/ML method — built, validated, and honestly scoped rather than oversold.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0607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41448"/>
            <a:ext cx="640080" cy="64008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607869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3134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Search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783080" y="26974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keyword retrieval + semantic similarity, fused with Reciprocal Rank Fusion (RRF).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006840" y="2532888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7F9FB"/>
          </a:solidFill>
          <a:ln/>
        </p:spPr>
      </p:sp>
      <p:sp>
        <p:nvSpPr>
          <p:cNvPr id="11" name="Text 8"/>
          <p:cNvSpPr/>
          <p:nvPr/>
        </p:nvSpPr>
        <p:spPr>
          <a:xfrm>
            <a:off x="9006840" y="25328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relevance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3566160"/>
            <a:ext cx="10607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4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8680" y="3858768"/>
            <a:ext cx="640080" cy="64008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01" y="4025189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83080" y="3730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v1</a:t>
            </a:r>
            <a:endParaRPr lang="en-US" sz="2150" dirty="0"/>
          </a:p>
        </p:txBody>
      </p:sp>
      <p:sp>
        <p:nvSpPr>
          <p:cNvPr id="16" name="Text 12"/>
          <p:cNvSpPr/>
          <p:nvPr/>
        </p:nvSpPr>
        <p:spPr>
          <a:xfrm>
            <a:off x="1783080" y="41148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widgets blending rule-based signals with genre-based AI affinity, plus Thompson Sampling exploration.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9006840" y="3950208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7F9FB"/>
          </a:solidFill>
          <a:ln/>
        </p:spPr>
      </p:sp>
      <p:sp>
        <p:nvSpPr>
          <p:cNvPr id="18" name="Text 14"/>
          <p:cNvSpPr/>
          <p:nvPr/>
        </p:nvSpPr>
        <p:spPr>
          <a:xfrm>
            <a:off x="9006840" y="39502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v1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48640" y="4983480"/>
            <a:ext cx="10607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4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68680" y="5276088"/>
            <a:ext cx="640080" cy="64008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5442509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83080" y="51480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v2</a:t>
            </a:r>
            <a:endParaRPr lang="en-US" sz="2150" dirty="0"/>
          </a:p>
        </p:txBody>
      </p:sp>
      <p:sp>
        <p:nvSpPr>
          <p:cNvPr id="23" name="Text 18"/>
          <p:cNvSpPr/>
          <p:nvPr/>
        </p:nvSpPr>
        <p:spPr>
          <a:xfrm>
            <a:off x="1783080" y="55321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Deepened AI: TF-IDF content embeddings + simulated collaborative filtering, blended into a hybrid score.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9006840" y="5367528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7F9FB"/>
          </a:solidFill>
          <a:ln/>
        </p:spPr>
      </p:sp>
      <p:sp>
        <p:nvSpPr>
          <p:cNvPr id="25" name="Text 20"/>
          <p:cNvSpPr/>
          <p:nvPr/>
        </p:nvSpPr>
        <p:spPr>
          <a:xfrm>
            <a:off x="9006840" y="53675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v2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1 — HYBRID SEARCH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that understands intent, not just keywords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120640" cy="4617720"/>
          </a:xfrm>
          <a:prstGeom prst="roundRect">
            <a:avLst>
              <a:gd name="adj" fmla="val 1584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5400000">
              <a:srgbClr val="1B244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keyword search misses intent — a query like “movies to watch with parents” returns nothing if no title contains those exact words. Pure semantic search drifts off-target on precise, literal queries (exact titles, actor names). Neither alone is reliable.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fuse both, don't pick one</a:t>
            </a:r>
            <a:endParaRPr lang="en-US" sz="1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99592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3977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for literal, exact-match precision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61772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4599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for paraphrased intent</a:t>
            </a:r>
            <a:endParaRPr lang="en-US" sz="15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23951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522122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 (RRF) merges both rankings without needing to tune a fragile weighted blend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852160" y="1508760"/>
            <a:ext cx="5788152" cy="4617720"/>
          </a:xfrm>
          <a:prstGeom prst="roundRect">
            <a:avLst>
              <a:gd name="adj" fmla="val 1584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B2440">
                <a:alpha val="10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617220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1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query flows through it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6172200" y="2240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959" y="2371039"/>
            <a:ext cx="241402" cy="2414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0" y="2221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858000" y="24871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natural-language query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419088" y="2770632"/>
            <a:ext cx="0" cy="411480"/>
          </a:xfrm>
          <a:prstGeom prst="line">
            <a:avLst/>
          </a:prstGeom>
          <a:noFill/>
          <a:ln w="15875">
            <a:solidFill>
              <a:srgbClr val="5FD3C4">
                <a:alpha val="7000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172200" y="3154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2959" y="3285439"/>
            <a:ext cx="241402" cy="24140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58000" y="3136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retrieval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6858000" y="34015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keyword search + semantic vector search run in parallel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419088" y="3685032"/>
            <a:ext cx="0" cy="411480"/>
          </a:xfrm>
          <a:prstGeom prst="line">
            <a:avLst/>
          </a:prstGeom>
          <a:noFill/>
          <a:ln w="15875">
            <a:solidFill>
              <a:srgbClr val="5FD3C4">
                <a:alpha val="70000"/>
              </a:srgbClr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172200" y="4069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2959" y="4199839"/>
            <a:ext cx="241402" cy="24140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58000" y="4050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fusion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6858000" y="43159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ranked lists merged by reciprocal rank, not raw score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6419088" y="4599432"/>
            <a:ext cx="0" cy="411480"/>
          </a:xfrm>
          <a:prstGeom prst="line">
            <a:avLst/>
          </a:prstGeom>
          <a:noFill/>
          <a:ln w="15875">
            <a:solidFill>
              <a:srgbClr val="5FD3C4">
                <a:alpha val="70000"/>
              </a:srgbClr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172200" y="4983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2959" y="5114239"/>
            <a:ext cx="241402" cy="24140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858000" y="4965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results</a:t>
            </a:r>
            <a:endParaRPr lang="en-US" sz="1600" dirty="0"/>
          </a:p>
        </p:txBody>
      </p:sp>
      <p:sp>
        <p:nvSpPr>
          <p:cNvPr id="34" name="Text 25"/>
          <p:cNvSpPr/>
          <p:nvPr/>
        </p:nvSpPr>
        <p:spPr>
          <a:xfrm>
            <a:off x="6858000" y="52303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relevance-ordered list returned to the user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1 — HYBRID SEARCH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technique, grounded in real outcomes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MVP demonstrates the same hybrid retrieval approach applied in production search work — where moving from single-method to fused retrieval measurably changed core search outcomes.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2860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 → 76%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success rate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21031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4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22860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 → &lt;5%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29000" y="30632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Zero-result queries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21031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4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22860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 → 50%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217920" y="30632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Recommendation-to-play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15400" y="21031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4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06840" y="22860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72h → &lt;15m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006840" y="30632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tagging time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0690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C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figures reflect outcomes from related production search/discovery work, shown here as the context that informed this MVP's technical approach — not a benchmark run on the demo itself.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10607040" cy="146304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B244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49103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5057729"/>
            <a:ext cx="272125" cy="27212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600200" y="4818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artifact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1600200" y="512064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D6DCF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hybrid-search-spark.lovable.app</a:t>
            </a:r>
            <a:pPr indent="0" marL="0">
              <a:buNone/>
            </a:pPr>
            <a:r>
              <a:rPr lang="en-US" sz="1600" dirty="0">
                <a:solidFill>
                  <a:srgbClr val="D6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live, interactive demo built and shipped on Lovable.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2 — RECOMMENDATION V1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widgets, built to fix sub-5% CTR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non-personalized rows were the root problem. v1 blends rule-based signals (language, recency, trending) with genre-based AI affinity scoring across five distinct, purpose-built widgets.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29968" cy="2606040"/>
          </a:xfrm>
          <a:prstGeom prst="roundRect">
            <a:avLst>
              <a:gd name="adj" fmla="val 3604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5400000">
              <a:srgbClr val="1B24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0160" y="235915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7561" y="2506553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310896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For You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" y="379476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70% · Language 20% · Freshness 10%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24912" y="2103120"/>
            <a:ext cx="2029968" cy="2606040"/>
          </a:xfrm>
          <a:prstGeom prst="roundRect">
            <a:avLst>
              <a:gd name="adj" fmla="val 3604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5400000">
              <a:srgbClr val="1B244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56432" y="235915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833" y="2506553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34640" y="310896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Your Story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834640" y="379476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recency 50% · AI 40%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901184" y="2103120"/>
            <a:ext cx="2029968" cy="2606040"/>
          </a:xfrm>
          <a:prstGeom prst="roundRect">
            <a:avLst>
              <a:gd name="adj" fmla="val 3604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5400000">
              <a:srgbClr val="1B244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632704" y="235915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105" y="2506553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10912" y="310896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In Your Taste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10912" y="379476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50% · Trending now 40%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077456" y="2103120"/>
            <a:ext cx="2029968" cy="2606040"/>
          </a:xfrm>
          <a:prstGeom prst="roundRect">
            <a:avLst>
              <a:gd name="adj" fmla="val 3604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5400000">
              <a:srgbClr val="1B244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808976" y="235915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377" y="2506553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87184" y="310896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You Watched X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187184" y="379476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90% · single-anchor similarity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9253728" y="2103120"/>
            <a:ext cx="2029968" cy="2606040"/>
          </a:xfrm>
          <a:prstGeom prst="roundRect">
            <a:avLst>
              <a:gd name="adj" fmla="val 3604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5400000">
              <a:srgbClr val="1B244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985248" y="235915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2649" y="2506553"/>
            <a:ext cx="272125" cy="27212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363456" y="310896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&amp; Matched To You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9363456" y="379476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60% · includes a Thompson Sampling explore slot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48640" y="4983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metric: click-to-play, not CTR alone — a widget that drives clicks but not plays is surfacing the wrong content attractively.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548640" y="562356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5400000">
              <a:srgbClr val="1B244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777240" y="58064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" y="5937199"/>
            <a:ext cx="241402" cy="24140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417320" y="562356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artifact:  </a:t>
            </a:r>
            <a:pPr indent="0" marL="0">
              <a:buNone/>
            </a:pPr>
            <a:r>
              <a:rPr lang="en-US" sz="140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recommendationv1.lovable.app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2 — RECOMMENDATION V1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the two cases pure exploitation breaks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12064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01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start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brand-new user isn't a blank slate. Onboarding genre picks seed the taste vector immediately, so every widget has something real to rank against on day one — no “empty until you watch 5 things” gap.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3749040"/>
            <a:ext cx="4480560" cy="1783080"/>
          </a:xfrm>
          <a:prstGeom prst="roundRect">
            <a:avLst>
              <a:gd name="adj" fmla="val 4103"/>
            </a:avLst>
          </a:prstGeom>
          <a:solidFill>
            <a:srgbClr val="21295C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proof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97280" y="4224528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persona ships with zero watch history — tagged “Cold start” in the demo — to prove the rule-based fallback actually works, not just documented as a plan.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852160" y="1508760"/>
            <a:ext cx="5788152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4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72200" y="1783080"/>
            <a:ext cx="548640" cy="54864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846" y="192572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58000" y="18013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/ exploit — Thompson Sampling</a:t>
            </a:r>
            <a:endParaRPr lang="en-US" sz="2050" dirty="0"/>
          </a:p>
        </p:txBody>
      </p:sp>
      <p:sp>
        <p:nvSpPr>
          <p:cNvPr id="16" name="Text 12"/>
          <p:cNvSpPr/>
          <p:nvPr/>
        </p:nvSpPr>
        <p:spPr>
          <a:xfrm>
            <a:off x="6172200" y="242316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exploitation converges into a filter bubble — once taste locks onto one genre cluster, nothing else gets shown, even content the user would love. One slot in “New &amp; Matched” reserves a Thompson Sampling pick instead of pure affinity ranking.</a:t>
            </a:r>
            <a:endParaRPr lang="en-US" sz="16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813048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3794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Beta(α,β) posterior per title, sampled — not point-estimated</a:t>
            </a:r>
            <a:endParaRPr lang="en-US" sz="15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379976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92240" y="43616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High-uncertainty titles explored proportionally more, no manual schedule needed</a:t>
            </a:r>
            <a:endParaRPr lang="en-US" sz="15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4946904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92240" y="492861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click updates the posterior live — the explore badge visibly shifts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206240" cy="420624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2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3 — RECOMMENDATION V2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Going deeper on the AI, not just the UI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proved personalization beats static rows. v2 replaces coarse genre-only matching with two real techniques, blended into one hybrid score.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2A3470"/>
          </a:solidFill>
          <a:ln/>
          <a:effectLst>
            <a:outerShdw sx="100000" sy="100000" kx="0" ky="0" algn="bl" rotWithShape="0" blurRad="101600" dist="38100" dir="5400000">
              <a:srgbClr val="1B244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100" kern="0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before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68680" y="2761488"/>
            <a:ext cx="91440" cy="91440"/>
          </a:xfrm>
          <a:prstGeom prst="ellipse">
            <a:avLst/>
          </a:prstGeom>
          <a:solidFill>
            <a:srgbClr val="9AA3CC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6517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9-dimensional genre-only vectors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3447288"/>
            <a:ext cx="91440" cy="91440"/>
          </a:xfrm>
          <a:prstGeom prst="ellipse">
            <a:avLst/>
          </a:prstGeom>
          <a:solidFill>
            <a:srgbClr val="9AA3CC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3375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collapses to a few discrete values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4133088"/>
            <a:ext cx="91440" cy="91440"/>
          </a:xfrm>
          <a:prstGeom prst="ellipse">
            <a:avLst/>
          </a:prstGeom>
          <a:solidFill>
            <a:srgbClr val="9AA3CC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023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collaborative signal — no “same kind of viewer” matching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" y="4818888"/>
            <a:ext cx="91440" cy="91440"/>
          </a:xfrm>
          <a:prstGeom prst="ellipse">
            <a:avLst/>
          </a:prstGeom>
          <a:solidFill>
            <a:srgbClr val="9AA3CC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7091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score breakdown — match % is a black box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852160" y="2057400"/>
            <a:ext cx="5788152" cy="4114800"/>
          </a:xfrm>
          <a:prstGeom prst="roundRect">
            <a:avLst>
              <a:gd name="adj" fmla="val 1778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1B244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after</a:t>
            </a:r>
            <a:endParaRPr lang="en-US" sz="15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697480"/>
            <a:ext cx="219456" cy="21945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92240" y="26517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316-term TF-IDF space: genre + cast + synopsis keywords</a:t>
            </a:r>
            <a:endParaRPr lang="en-US" sz="15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474720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492240" y="3429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differentiated match scores</a:t>
            </a:r>
            <a:endParaRPr lang="en-US" sz="15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251960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92240" y="4206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collaborative filtering — 180 synthetic viewers, item-item co-watch similarity</a:t>
            </a:r>
            <a:endParaRPr lang="en-US" sz="15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5029200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92240" y="4983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shows its breakdown: “82% match · Content 76% · CF 91%”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3 — RECOMMENDATION V2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before shipping, not just asserted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score was tested against the real catalog and persona data before going live — confirming collaborative filtering surfaces a genuinely different signal, not content similarity restated.</a:t>
            </a:r>
            <a:endParaRPr lang="en-US" sz="16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57400"/>
          <a:ext cx="55778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2057400"/>
            <a:ext cx="4754880" cy="896112"/>
          </a:xfrm>
          <a:prstGeom prst="roundRect">
            <a:avLst>
              <a:gd name="adj" fmla="val 8163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5400000">
              <a:srgbClr val="1B244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629400" y="217627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8229600" y="2057400"/>
            <a:ext cx="2788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title-pairs have non-zero CF similarity — not degenerate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0" y="3136392"/>
            <a:ext cx="4754880" cy="896112"/>
          </a:xfrm>
          <a:prstGeom prst="roundRect">
            <a:avLst>
              <a:gd name="adj" fmla="val 8163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5400000">
              <a:srgbClr val="1B244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29400" y="325526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23/23</a:t>
            </a:r>
            <a:endParaRPr lang="en-US" sz="2350" dirty="0"/>
          </a:p>
        </p:txBody>
      </p:sp>
      <p:sp>
        <p:nvSpPr>
          <p:cNvPr id="11" name="Text 8"/>
          <p:cNvSpPr/>
          <p:nvPr/>
        </p:nvSpPr>
        <p:spPr>
          <a:xfrm>
            <a:off x="8229600" y="3136392"/>
            <a:ext cx="2788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where CF measurably contributed to a real persona's ranking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0" y="4215384"/>
            <a:ext cx="4754880" cy="896112"/>
          </a:xfrm>
          <a:prstGeom prst="roundRect">
            <a:avLst>
              <a:gd name="adj" fmla="val 8163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5400000">
              <a:srgbClr val="1B244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629400" y="433425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 / 0.35</a:t>
            </a:r>
            <a:endParaRPr lang="en-US" sz="2350" dirty="0"/>
          </a:p>
        </p:txBody>
      </p:sp>
      <p:sp>
        <p:nvSpPr>
          <p:cNvPr id="14" name="Text 11"/>
          <p:cNvSpPr/>
          <p:nvPr/>
        </p:nvSpPr>
        <p:spPr>
          <a:xfrm>
            <a:off x="8229600" y="4215384"/>
            <a:ext cx="2788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content-weighted hybrid blend (content / CF), tunable as real interaction volume grows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534924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5400000">
              <a:srgbClr val="1B244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7240" y="5532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" y="5662879"/>
            <a:ext cx="241402" cy="24140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17320" y="53492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artifact:  </a:t>
            </a:r>
            <a:pPr indent="0" marL="0">
              <a:buNone/>
            </a:pPr>
            <a:r>
              <a:rPr lang="en-US" sz="140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taste-pulse-engine.lovable.app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200400"/>
            <a:ext cx="4572000" cy="4572000"/>
          </a:xfrm>
          <a:prstGeom prst="ellipse">
            <a:avLst/>
          </a:prstGeom>
          <a:solidFill>
            <a:srgbClr val="065A82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71506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2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PORTFOLIO DEMONSTRATES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Iteration discipline, not just finished artifacts</a:t>
            </a:r>
            <a:endParaRPr lang="en-US" sz="33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479121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30175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scoping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548640" y="3364992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demo states plainly what's simulated vs. production-real — no overclaiming “AI” where it's a classic, explainable technique.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4206240" y="233172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641" y="2479121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06240" y="30175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not assumed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4206240" y="3364992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and logic checked against real data before shipping — e.g. confirming CF isn't degenerate before calling it a feature.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7863840" y="233172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1241" y="2479121"/>
            <a:ext cx="272125" cy="2721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863840" y="30175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discipline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7863840" y="3364992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MVP optimizes a specific north-star outcome — search success rate, click-to-play — not vanity engagement.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548640" y="5074920"/>
            <a:ext cx="10607040" cy="1188720"/>
          </a:xfrm>
          <a:prstGeom prst="roundRect">
            <a:avLst>
              <a:gd name="adj" fmla="val 6154"/>
            </a:avLst>
          </a:prstGeom>
          <a:solidFill>
            <a:srgbClr val="2A3470"/>
          </a:solidFill>
          <a:ln/>
          <a:effectLst>
            <a:outerShdw sx="100000" sy="100000" kx="0" ky="0" algn="bl" rotWithShape="0" blurRad="101600" dist="38100" dir="5400000">
              <a:srgbClr val="1B2440">
                <a:alpha val="10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868680" y="5257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868680" y="55595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hybrid-search-spark.lovable.app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4297680" y="5257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v1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4297680" y="55595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recommendationv1.lovable.app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726680" y="5257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v2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7726680" y="55595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taste-pulse-engine.lovable.app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Anup  ·  Product Manager  ·  AI / B2B SaaS / Platform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Product Portfolio — Search &amp; Recommendation MVPs</dc:title>
  <dc:subject>PptxGenJS Presentation</dc:subject>
  <dc:creator>Anup</dc:creator>
  <cp:lastModifiedBy>Anup</cp:lastModifiedBy>
  <cp:revision>1</cp:revision>
  <dcterms:created xsi:type="dcterms:W3CDTF">2026-06-30T13:24:42Z</dcterms:created>
  <dcterms:modified xsi:type="dcterms:W3CDTF">2026-06-30T13:24:42Z</dcterms:modified>
</cp:coreProperties>
</file>